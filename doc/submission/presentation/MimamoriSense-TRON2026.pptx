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145424805f4a2d" /><Relationship Type="http://schemas.openxmlformats.org/officeDocument/2006/relationships/extended-properties" Target="/docProps/app.xml" Id="R0b1a1c110bf14b62" /><Relationship Type="http://schemas.openxmlformats.org/officeDocument/2006/relationships/officeDocument" Target="/ppt/presentation.xml" Id="Rb797a47fb7e14c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8b03c8731c484b"/>
  </p:sldMasterIdLst>
  <p:notesMasterIdLst>
    <p:notesMasterId xmlns:r="http://schemas.openxmlformats.org/officeDocument/2006/relationships" r:id="Rdbbb046f89b24afc"/>
  </p:notesMasterIdLst>
  <p:sldIdLst>
    <p:sldId xmlns:r="http://schemas.openxmlformats.org/officeDocument/2006/relationships" id="256" r:id="Ra5e58226775d42cf"/>
    <p:sldId xmlns:r="http://schemas.openxmlformats.org/officeDocument/2006/relationships" id="257" r:id="R69200c2765ed4a0f"/>
    <p:sldId xmlns:r="http://schemas.openxmlformats.org/officeDocument/2006/relationships" id="258" r:id="R7c0346b85dbf4452"/>
    <p:sldId xmlns:r="http://schemas.openxmlformats.org/officeDocument/2006/relationships" id="259" r:id="R943b8199e872463b"/>
    <p:sldId xmlns:r="http://schemas.openxmlformats.org/officeDocument/2006/relationships" id="260" r:id="Rc74e489444c94592"/>
    <p:sldId xmlns:r="http://schemas.openxmlformats.org/officeDocument/2006/relationships" id="261" r:id="R39b8b26efeac4870"/>
    <p:sldId xmlns:r="http://schemas.openxmlformats.org/officeDocument/2006/relationships" id="262" r:id="R48969d063eda4e83"/>
    <p:sldId xmlns:r="http://schemas.openxmlformats.org/officeDocument/2006/relationships" id="263" r:id="R08acc9e77ae040cb"/>
    <p:sldId xmlns:r="http://schemas.openxmlformats.org/officeDocument/2006/relationships" id="264" r:id="R7ead2224f44c48ff"/>
    <p:sldId xmlns:r="http://schemas.openxmlformats.org/officeDocument/2006/relationships" id="265" r:id="R191a7a7e4ebf4a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f734807c3346e8" /><Relationship Type="http://schemas.openxmlformats.org/officeDocument/2006/relationships/slideMaster" Target="/ppt/slideMasters/slideMaster1.xml" Id="Rcf8b03c8731c484b" /><Relationship Type="http://schemas.openxmlformats.org/officeDocument/2006/relationships/notesMaster" Target="/ppt/notesMasters/notesMaster1.xml" Id="Rdbbb046f89b24afc" /><Relationship Type="http://schemas.openxmlformats.org/officeDocument/2006/relationships/presProps" Target="/ppt/presProps.xml" Id="Ra38a8bddb74b4a38" /><Relationship Type="http://schemas.openxmlformats.org/officeDocument/2006/relationships/tableStyles" Target="/ppt/tableStyles.xml" Id="Rce296d10e9964817" /><Relationship Type="http://schemas.openxmlformats.org/officeDocument/2006/relationships/slide" Target="/ppt/slides/slide1.xml" Id="Ra5e58226775d42cf" /><Relationship Type="http://schemas.openxmlformats.org/officeDocument/2006/relationships/slide" Target="/ppt/slides/slide2.xml" Id="R69200c2765ed4a0f" /><Relationship Type="http://schemas.openxmlformats.org/officeDocument/2006/relationships/slide" Target="/ppt/slides/slide3.xml" Id="R7c0346b85dbf4452" /><Relationship Type="http://schemas.openxmlformats.org/officeDocument/2006/relationships/slide" Target="/ppt/slides/slide4.xml" Id="R943b8199e872463b" /><Relationship Type="http://schemas.openxmlformats.org/officeDocument/2006/relationships/slide" Target="/ppt/slides/slide5.xml" Id="Rc74e489444c94592" /><Relationship Type="http://schemas.openxmlformats.org/officeDocument/2006/relationships/slide" Target="/ppt/slides/slide6.xml" Id="R39b8b26efeac4870" /><Relationship Type="http://schemas.openxmlformats.org/officeDocument/2006/relationships/slide" Target="/ppt/slides/slide7.xml" Id="R48969d063eda4e83" /><Relationship Type="http://schemas.openxmlformats.org/officeDocument/2006/relationships/slide" Target="/ppt/slides/slide8.xml" Id="R08acc9e77ae040cb" /><Relationship Type="http://schemas.openxmlformats.org/officeDocument/2006/relationships/slide" Target="/ppt/slides/slide9.xml" Id="R7ead2224f44c48ff" /><Relationship Type="http://schemas.openxmlformats.org/officeDocument/2006/relationships/slide" Target="/ppt/slides/slide10.xml" Id="R191a7a7e4ebf4a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059687114e46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a82365fe77452c" /><Relationship Type="http://schemas.openxmlformats.org/officeDocument/2006/relationships/notesMaster" Target="/ppt/notesMasters/notesMaster1.xml" Id="R253fdb483c3e4c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8509171b804218" /><Relationship Type="http://schemas.openxmlformats.org/officeDocument/2006/relationships/notesMaster" Target="/ppt/notesMasters/notesMaster1.xml" Id="R13f3d4f357cd44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0a4a1f760a4d4f" /><Relationship Type="http://schemas.openxmlformats.org/officeDocument/2006/relationships/notesMaster" Target="/ppt/notesMasters/notesMaster1.xml" Id="R79ef7824982e4e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45f9e6070f4a5f" /><Relationship Type="http://schemas.openxmlformats.org/officeDocument/2006/relationships/notesMaster" Target="/ppt/notesMasters/notesMaster1.xml" Id="R62d60dd963d545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f718004f2445e7" /><Relationship Type="http://schemas.openxmlformats.org/officeDocument/2006/relationships/notesMaster" Target="/ppt/notesMasters/notesMaster1.xml" Id="R08b0cf1cba5e48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10766e743141d7" /><Relationship Type="http://schemas.openxmlformats.org/officeDocument/2006/relationships/notesMaster" Target="/ppt/notesMasters/notesMaster1.xml" Id="Rab7db243d1464c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39e9055059481a" /><Relationship Type="http://schemas.openxmlformats.org/officeDocument/2006/relationships/notesMaster" Target="/ppt/notesMasters/notesMaster1.xml" Id="R59aad9ba540c4a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e88ed3bf134770" /><Relationship Type="http://schemas.openxmlformats.org/officeDocument/2006/relationships/notesMaster" Target="/ppt/notesMasters/notesMaster1.xml" Id="Read4ac7fce1f4c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667e118b7b416a" /><Relationship Type="http://schemas.openxmlformats.org/officeDocument/2006/relationships/notesMaster" Target="/ppt/notesMasters/notesMaster1.xml" Id="Re93e96c1f10348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5284cf873d446a" /><Relationship Type="http://schemas.openxmlformats.org/officeDocument/2006/relationships/notesMaster" Target="/ppt/notesMasters/notesMaster1.xml" Id="Rc635608a93be43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ed24790064d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2b4ce487244bc3" /><Relationship Type="http://schemas.openxmlformats.org/officeDocument/2006/relationships/slideLayout" Target="/ppt/slideLayouts/slideLayout1.xml" Id="R75897b5e62d645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897b5e62d645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ff616c9e546ef" /><Relationship Type="http://schemas.openxmlformats.org/officeDocument/2006/relationships/image" Target="/ppt/media/image.jpeg" Id="Ra69e01610db448e5" /><Relationship Type="http://schemas.openxmlformats.org/officeDocument/2006/relationships/notesSlide" Target="/ppt/notesSlides/notesSlide1.xml" Id="Re7619a0eace748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4c453550e404b" /><Relationship Type="http://schemas.openxmlformats.org/officeDocument/2006/relationships/notesSlide" Target="/ppt/notesSlides/notesSlide2.xml" Id="R3854e9bd8ca343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6ac2c816944f4" /><Relationship Type="http://schemas.openxmlformats.org/officeDocument/2006/relationships/notesSlide" Target="/ppt/notesSlides/notesSlide3.xml" Id="R31aaf87ab60e4a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afa2ca3354f92" /><Relationship Type="http://schemas.openxmlformats.org/officeDocument/2006/relationships/notesSlide" Target="/ppt/notesSlides/notesSlide4.xml" Id="R299a96fd04434d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a815cb58a42cc" /><Relationship Type="http://schemas.openxmlformats.org/officeDocument/2006/relationships/image" Target="/ppt/media/image2.jpeg" Id="Rc17413e2f83a45fc" /><Relationship Type="http://schemas.openxmlformats.org/officeDocument/2006/relationships/image" Target="/ppt/media/image3.jpeg" Id="R7e59ea9eb1534c3e" /><Relationship Type="http://schemas.openxmlformats.org/officeDocument/2006/relationships/notesSlide" Target="/ppt/notesSlides/notesSlide5.xml" Id="Rdd5760773d4443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34834473e486b" /><Relationship Type="http://schemas.openxmlformats.org/officeDocument/2006/relationships/image" Target="/ppt/media/image4.jpeg" Id="Rb35d4497aeec4d45" /><Relationship Type="http://schemas.openxmlformats.org/officeDocument/2006/relationships/notesSlide" Target="/ppt/notesSlides/notesSlide6.xml" Id="Rc6938b0ab81c4c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a73762ee34026" /><Relationship Type="http://schemas.openxmlformats.org/officeDocument/2006/relationships/notesSlide" Target="/ppt/notesSlides/notesSlide7.xml" Id="R71134443f44d44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fd29d8ed24604" /><Relationship Type="http://schemas.openxmlformats.org/officeDocument/2006/relationships/notesSlide" Target="/ppt/notesSlides/notesSlide8.xml" Id="R787a8af42e3c49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6f4e38f264be3" /><Relationship Type="http://schemas.openxmlformats.org/officeDocument/2006/relationships/notesSlide" Target="/ppt/notesSlides/notesSlide9.xml" Id="R44fe472b39c44b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35c2184a341c9" /><Relationship Type="http://schemas.openxmlformats.org/officeDocument/2006/relationships/notesSlide" Target="/ppt/notesSlides/notesSlide10.xml" Id="R22cf34f8fb7d41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54C7B-6D32-4064-B75D-9A70EA6D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MimamoriSense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94042-0D25-4327-903C-484117F1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FE187-882C-4714-9CFF-57EFA152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TRONプログラミングコンテスト2026　応募プログラム紹介資料　2026年9月26日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8A8A5-B0B6-4D3F-A986-C54045F9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19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925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家庭内の転倒状態を</a:t>
            </a:r>
          </a:p>
          <a:p xmlns:a="http://schemas.openxmlformats.org/drawingml/2006/main">
            <a:pPr algn="l">
              <a:defRPr sz="2925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925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画面と音で知らせる端末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9BDC9-D632-45D7-A48D-34C678A9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007F80"/>
                </a:solidFill>
                <a:latin typeface="Meiryo"/>
                <a:ea typeface="Meiryo"/>
                <a:cs typeface="Meiryo"/>
              </a:rPr>
              <a:t>カメラによる人物検出と転倒判定を</a:t>
            </a:r>
          </a:p>
          <a:p xmlns:a="http://schemas.openxmlformats.org/drawingml/2006/main">
            <a:pPr algn="l">
              <a:defRPr sz="2100" b="0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007F80"/>
                </a:solidFill>
                <a:latin typeface="Meiryo"/>
                <a:ea typeface="Meiryo"/>
                <a:cs typeface="Meiryo"/>
              </a:rPr>
              <a:t>μT-Kernel 3.0上でつなぐ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8C1E2-B2CE-4181-B2CB-3CD9F3F2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Renesas EK-RA8P1 / Ethos-U55 / LVGL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e01610db448e5"/>
          <a:stretch xmlns:a="http://schemas.openxmlformats.org/drawingml/2006/main"/>
        </p:blipFill>
        <p:spPr>
          <a:xfrm xmlns:a="http://schemas.openxmlformats.org/drawingml/2006/main">
            <a:off x="7774781" y="1238250"/>
            <a:ext cx="3386138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64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1368C-865D-4CE7-AFA9-E8F4C5F0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家庭内で異変に気づくための見守り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8168B-AA99-4590-A9D9-217009C4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27520-77E4-41E6-AC8D-2986D027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対象は屋内での見守り。今回紹介する通知先は、本体のLCDとスピーカーです。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A2036-7CA5-4368-897A-79899CF7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家族が常に画面を見続けなくても、異変に気づける仕組みを目指します。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76EFD-A56F-4088-B867-06A26059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286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カメラ</a:t>
            </a:r>
          </a:p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人物を撮影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73781-9AD4-499C-8D3C-0B9722C1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3333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端末内の処理</a:t>
            </a:r>
          </a:p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人物検出・転倒判定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D60F1-5BCE-4AB8-BB95-E5E6C71B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3276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LCD</a:t>
            </a:r>
          </a:p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状態を表示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1E4E9-6DD4-48CB-B209-22B4628A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43350"/>
            <a:ext cx="3276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スピーカー</a:t>
            </a:r>
          </a:p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警報音で通知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95600" y="3295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6972300" y="2686050"/>
            <a:ext cx="1162050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72300" y="3295650"/>
            <a:ext cx="1162050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C2C95-1B2F-4CEE-93EA-DE32893E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007F80"/>
                </a:solidFill>
                <a:latin typeface="Meiryo"/>
                <a:ea typeface="Meiryo"/>
                <a:cs typeface="Meiryo"/>
              </a:rPr>
              <a:t>身体にセンサーを装着しない、カメラ方式の試作です。</a:t>
            </a:r>
          </a:p>
        </p:txBody>
      </p:sp>
    </p:spTree>
    <p:extLst>
      <p:ext uri="{BB962C8B-B14F-4D97-AF65-F5344CB8AC3E}">
        <p14:creationId xmlns:p14="http://schemas.microsoft.com/office/powerpoint/2010/main" val="626158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20326-FA3C-441F-9836-552267C2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画像から転倒判定までの処理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7C356-9538-4305-8BD8-7749638D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D1276-1C40-402A-A861-531E970D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AIは人物の位置を検出し、転倒状態は検出枠の形と連続性で判定します。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1E229-0067-4F54-A4BC-EC3E6A06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38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画像の前処理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574D5-727A-4E48-9398-D7AECE12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43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224 × 224</a:t>
            </a:r>
          </a:p>
          <a:p xmlns:a="http://schemas.openxmlformats.org/drawingml/2006/main">
            <a:pPr algn="ctr">
              <a:defRPr sz="187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RGB / INT8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FFE07-E30F-4CEB-97F7-65B91001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2438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AI人物検出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3028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36ED4-6276-4DBF-898D-968D6A30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95700"/>
            <a:ext cx="243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YOLO-Fastest V1</a:t>
            </a:r>
          </a:p>
          <a:p xmlns:a="http://schemas.openxmlformats.org/drawingml/2006/main">
            <a:pPr algn="ctr">
              <a:defRPr sz="187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Ethos-U55 NPU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844DB-3BDF-4F52-9E27-984E072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2438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検出結果の整理</a:t>
            </a:r>
          </a:p>
        </p:txBody>
      </p: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67400" y="3028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3559D-A3BF-4A1A-B5EF-A5259FA8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243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人物の枠・スコア</a:t>
            </a:r>
          </a:p>
          <a:p xmlns:a="http://schemas.openxmlformats.org/drawingml/2006/main">
            <a:pPr algn="ctr">
              <a:defRPr sz="187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重複する枠を整理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C9BCF-EE07-4DF4-B6C7-190BEEC2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2438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転倒判定</a:t>
            </a:r>
          </a:p>
        </p:txBody>
      </p:sp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86800" y="30289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7A0DE-45B2-4335-BCC7-7004EB19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95700"/>
            <a:ext cx="243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枠の幅 ÷ 高さ</a:t>
            </a:r>
          </a:p>
          <a:p xmlns:a="http://schemas.openxmlformats.org/drawingml/2006/main">
            <a:pPr algn="ctr">
              <a:defRPr sz="187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連続した判定結果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0BBEE-578C-4ABA-855C-98BC229D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76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人物検出モデルと、状態遷移による転倒判定を分離した構成</a:t>
            </a:r>
          </a:p>
        </p:txBody>
      </p:sp>
    </p:spTree>
    <p:extLst>
      <p:ext uri="{BB962C8B-B14F-4D97-AF65-F5344CB8AC3E}">
        <p14:creationId xmlns:p14="http://schemas.microsoft.com/office/powerpoint/2010/main" val="640490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F478A-F611-48D8-A795-E95FB123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転倒判定の状態遷移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1B8C-C9B4-4BE8-B57D-464C9897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75560-E8A3-4577-8C64-EC7CB5E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既定設定。5回は推論後の判定回数であり、固定の秒数ではありません。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29759-7910-4387-822E-111835A9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転倒候補：人物スコア 0.5以上、検出枠の 幅 ÷ 高さ が1.3以上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A3B31-DD9F-4FC1-B86B-30D88AEC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25717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D"/>
          </a:solidFill>
          <a:ln xmlns:a="http://schemas.openxmlformats.org/drawingml/2006/main" w="19050">
            <a:solidFill>
              <a:srgbClr val="23784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3784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3784D"/>
                </a:solidFill>
                <a:latin typeface="Meiryo"/>
                <a:ea typeface="Meiryo"/>
                <a:cs typeface="Meiryo"/>
              </a:rPr>
              <a:t>NORMAL</a:t>
            </a:r>
          </a:p>
          <a:p xmlns:a="http://schemas.openxmlformats.org/drawingml/2006/main">
            <a:pPr algn="ctr">
              <a:defRPr sz="1950" b="1">
                <a:solidFill>
                  <a:srgbClr val="23784D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3784D"/>
                </a:solidFill>
                <a:latin typeface="Meiryo"/>
                <a:ea typeface="Meiryo"/>
                <a:cs typeface="Meiryo"/>
              </a:rPr>
              <a:t>監視中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AE08C-B193-4622-A2F9-A9AD9417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67025"/>
            <a:ext cx="25717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19050">
            <a:solidFill>
              <a:srgbClr val="9769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7690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976900"/>
                </a:solidFill>
                <a:latin typeface="Meiryo"/>
                <a:ea typeface="Meiryo"/>
                <a:cs typeface="Meiryo"/>
              </a:rPr>
              <a:t>SUSPECTED</a:t>
            </a:r>
          </a:p>
          <a:p xmlns:a="http://schemas.openxmlformats.org/drawingml/2006/main">
            <a:pPr algn="ctr">
              <a:defRPr sz="1950" b="1">
                <a:solidFill>
                  <a:srgbClr val="97690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976900"/>
                </a:solidFill>
                <a:latin typeface="Meiryo"/>
                <a:ea typeface="Meiryo"/>
                <a:cs typeface="Meiryo"/>
              </a:rPr>
              <a:t>転倒の疑い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DD7F1-EEC2-4545-8350-19140B22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67025"/>
            <a:ext cx="25717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E"/>
          </a:solidFill>
          <a:ln xmlns:a="http://schemas.openxmlformats.org/drawingml/2006/main" w="19050">
            <a:solidFill>
              <a:srgbClr val="B63B4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63B45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63B45"/>
                </a:solidFill>
                <a:latin typeface="Meiryo"/>
                <a:ea typeface="Meiryo"/>
                <a:cs typeface="Meiryo"/>
              </a:rPr>
              <a:t>CONFIRMED</a:t>
            </a:r>
          </a:p>
          <a:p xmlns:a="http://schemas.openxmlformats.org/drawingml/2006/main">
            <a:pPr algn="ctr">
              <a:defRPr sz="1800" b="1">
                <a:solidFill>
                  <a:srgbClr val="B63B45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B63B45"/>
                </a:solidFill>
                <a:latin typeface="Meiryo"/>
                <a:ea typeface="Meiryo"/>
                <a:cs typeface="Meiryo"/>
              </a:rPr>
              <a:t>転倒確定・警報要求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81350" y="34337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72350" y="34337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4F46D-F302-4E33-82C7-56B1F8AE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71750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候補あり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F732D-F7B0-43F5-ABD6-8F7E4880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52675"/>
            <a:ext cx="129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候補が合計</a:t>
            </a:r>
          </a:p>
          <a:p xmlns:a="http://schemas.openxmlformats.org/drawingml/2006/main">
            <a:pPr algn="ctr">
              <a:defRPr sz="1650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5回連続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74966-D4DC-4A9B-A5C1-50E21803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疑いの段階で候補が途切れると、監視中に戻ります。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B2784-B1D5-46CF-9149-3E1E60DC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007F80"/>
                </a:solidFill>
                <a:latin typeface="Meiryo"/>
                <a:ea typeface="Meiryo"/>
                <a:cs typeface="Meiryo"/>
              </a:rPr>
              <a:t>確定後は、有効な人物検出があり転倒候補がない状態が5回続くと復帰。</a:t>
            </a:r>
          </a:p>
          <a:p xmlns:a="http://schemas.openxmlformats.org/drawingml/2006/main">
            <a:pPr algn="l">
              <a:defRPr sz="1875" b="0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007F80"/>
                </a:solidFill>
                <a:latin typeface="Meiryo"/>
                <a:ea typeface="Meiryo"/>
                <a:cs typeface="Meiryo"/>
              </a:rPr>
              <a:t>人物が画面から消えただけでは、転倒確定を解除しません。</a:t>
            </a:r>
          </a:p>
        </p:txBody>
      </p:sp>
    </p:spTree>
    <p:extLst>
      <p:ext uri="{BB962C8B-B14F-4D97-AF65-F5344CB8AC3E}">
        <p14:creationId xmlns:p14="http://schemas.microsoft.com/office/powerpoint/2010/main" val="1486681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C9AF9-821E-444B-912B-2C2000E4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実機画面で見る判定の変化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CE24F-1457-4E4A-9D79-40C1F426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E7445-94AF-484D-B0EA-46E60406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3784D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3784D"/>
                </a:solidFill>
                <a:latin typeface="Meiryo"/>
                <a:ea typeface="Meiryo"/>
                <a:cs typeface="Meiryo"/>
              </a:rPr>
              <a:t>通常の監視状態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2B693-5D21-4295-8D10-F3B41FF7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01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3B45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B63B45"/>
                </a:solidFill>
                <a:latin typeface="Meiryo"/>
                <a:ea typeface="Meiryo"/>
                <a:cs typeface="Meiryo"/>
              </a:rPr>
              <a:t>転倒と判定した状態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413e2f83a45fc"/>
          <a:stretch xmlns:a="http://schemas.openxmlformats.org/drawingml/2006/main"/>
        </p:blipFill>
        <p:spPr>
          <a:xfrm xmlns:a="http://schemas.openxmlformats.org/drawingml/2006/main">
            <a:off x="914924" y="2066925"/>
            <a:ext cx="4647151" cy="34861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9ea9eb1534c3e"/>
          <a:stretch xmlns:a="http://schemas.openxmlformats.org/drawingml/2006/main"/>
        </p:blipFill>
        <p:spPr>
          <a:xfrm xmlns:a="http://schemas.openxmlformats.org/drawingml/2006/main">
            <a:off x="6629924" y="2066925"/>
            <a:ext cx="4647151" cy="3486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172F5-F403-4C36-B8DD-72588DC6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3784D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23784D"/>
                </a:solidFill>
                <a:latin typeface="Meiryo"/>
                <a:ea typeface="Meiryo"/>
                <a:cs typeface="Meiryo"/>
              </a:rPr>
              <a:t>緑の枠 / Monitoring... / NORMAL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52D73-BEE9-43C5-944E-7084604B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10225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63B45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B63B45"/>
                </a:solidFill>
                <a:latin typeface="Meiryo"/>
                <a:ea typeface="Meiryo"/>
                <a:cs typeface="Meiryo"/>
              </a:rPr>
              <a:t>赤い枠 / FALL DETECTED / CONFIRMED</a:t>
            </a:r>
          </a:p>
        </p:txBody>
      </p:sp>
    </p:spTree>
    <p:extLst>
      <p:ext uri="{BB962C8B-B14F-4D97-AF65-F5344CB8AC3E}">
        <p14:creationId xmlns:p14="http://schemas.microsoft.com/office/powerpoint/2010/main" val="1300476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5DFEC-0F6A-48DF-997B-C7DEF556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タッチ操作による日付・時刻設定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3C9F0-BD12-4943-B0F1-5AA71874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78E56-82B6-4E4D-A1F4-2CE13B9F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時刻保持にはRTCバックアップ電池を使用します。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d4497aeec4d45"/>
          <a:stretch xmlns:a="http://schemas.openxmlformats.org/drawingml/2006/main"/>
        </p:blipFill>
        <p:spPr>
          <a:xfrm xmlns:a="http://schemas.openxmlformats.org/drawingml/2006/main">
            <a:off x="1335088" y="1571625"/>
            <a:ext cx="5549900" cy="41624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9AA0C-E7D2-4F5A-A5C7-681FF92C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47825"/>
            <a:ext cx="357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01　歯車ボタンをタッチ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5005D-4ED1-43DE-9801-C25D2AF1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3571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02　年・月・日・時・分</a:t>
            </a:r>
          </a:p>
          <a:p xmlns:a="http://schemas.openxmlformats.org/drawingml/2006/main">
            <a:pPr algn="l">
              <a:defRPr sz="18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　　を選択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7D094-D411-4380-9D82-A36A6D21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357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03　OKを押して設定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1F251-EF6E-4E91-BB99-643A3E63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76775"/>
            <a:ext cx="3571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設定と読み戻しが成功すると</a:t>
            </a:r>
          </a:p>
          <a:p xmlns:a="http://schemas.openxmlformats.org/drawingml/2006/main">
            <a:pPr algn="l">
              <a:defRPr sz="180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メイン画面へ戻ります。</a:t>
            </a:r>
          </a:p>
        </p:txBody>
      </p:sp>
    </p:spTree>
    <p:extLst>
      <p:ext uri="{BB962C8B-B14F-4D97-AF65-F5344CB8AC3E}">
        <p14:creationId xmlns:p14="http://schemas.microsoft.com/office/powerpoint/2010/main" val="2133143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D0C20-7587-4662-8E8C-5129EC18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μT-Kernelによるタスク構成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F3840-EB0A-40FB-8AD4-F83BCAAD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688F9-EB71-42C6-B9D1-B64D8F63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CPU0の主要処理を抜粋。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7DF9A-4CAF-448B-B2A3-7F38A002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CPU0上で、画像・表示・警報・時刻処理を役割ごとに分けます。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3F7E9-3EA0-449A-A09B-E2E4CE67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カメラタスク</a:t>
            </a:r>
          </a:p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撮影の初期化・制御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DD20C-D903-46B3-A972-C902D4BB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38400"/>
            <a:ext cx="2952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LVGLタスク</a:t>
            </a:r>
          </a:p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表示・前処理・操作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2CB27-3152-421E-8E8B-0B9AC0E8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38400"/>
            <a:ext cx="2686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AIタスク</a:t>
            </a:r>
          </a:p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推論・転倒判定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72300" y="29527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D03F9-2919-46B5-B602-06420B84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57400"/>
            <a:ext cx="166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画像準備の通知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5C5FC-73C1-40CE-9896-95B450FD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72000"/>
            <a:ext cx="2952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時刻タスク</a:t>
            </a:r>
          </a:p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RTC設定・取得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20A48-60DA-41EE-9C2F-5E1676E4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72000"/>
            <a:ext cx="26860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0"/>
          </a:solidFill>
          <a:ln xmlns:a="http://schemas.openxmlformats.org/drawingml/2006/main" w="19050">
            <a:solidFill>
              <a:srgbClr val="007F8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警報タスク</a:t>
            </a:r>
          </a:p>
          <a:p xmlns:a="http://schemas.openxmlformats.org/drawingml/2006/main">
            <a:pPr algn="ctr">
              <a:defRPr sz="195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再生・停止を制御</a:t>
            </a:r>
          </a:p>
        </p:txBody>
      </p:sp>
      <p:cxnSp>
        <p:nvCxnSpPr>
          <p:cNvPr id="28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495925" y="34671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220325" y="34671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0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4CE1E-9CEE-4844-A4DC-82647417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57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設定要求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AA46D-A4D6-4C7D-9594-F6DB2119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576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転倒状態の通知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315A0-1BE9-465F-9E6D-0DFF6A14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0480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μT-Kernel 3.0 BSP2</a:t>
            </a:r>
          </a:p>
          <a:p xmlns:a="http://schemas.openxmlformats.org/drawingml/2006/main">
            <a:pPr algn="l">
              <a:defRPr sz="18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タスクとイベントフラグで</a:t>
            </a:r>
          </a:p>
          <a:p xmlns:a="http://schemas.openxmlformats.org/drawingml/2006/main">
            <a:pPr algn="l">
              <a:defRPr sz="18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処理をつなぐ</a:t>
            </a:r>
          </a:p>
        </p:txBody>
      </p:sp>
    </p:spTree>
    <p:extLst>
      <p:ext uri="{BB962C8B-B14F-4D97-AF65-F5344CB8AC3E}">
        <p14:creationId xmlns:p14="http://schemas.microsoft.com/office/powerpoint/2010/main" val="1051466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40EDF-3C32-4ADA-B1FD-3ECFBB12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実機で確認する流れ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2279E-3F3C-4A3E-987C-5B9584FD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02050-754D-4604-AF80-2EAC362C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操作・期待結果の説明です。成功率や長時間の安定性を評価した結果ではありません。詳細は動作評価手順書を参照。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8248A-F517-4EE6-9499-58FD07AF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E9A6A-A7A7-4816-A62C-C731E31B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619250"/>
            <a:ext cx="2695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起動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4D480-EAAC-4A3D-85B5-860FBB3D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6886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映像が更新されることを確認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77406-1718-4674-B872-AEEA9F0F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A018D-27EF-455A-BFFA-3F56B907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09850"/>
            <a:ext cx="2695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通常姿勢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D2C80-0151-47D9-9F54-1F94DAB5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6886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人物の枠とNORMALを確認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937B8-F9A4-428B-8187-F907369E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231F8-9B47-4B9C-A940-969B5032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00450"/>
            <a:ext cx="2695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姿勢を変える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159BE-B852-4238-A744-D8C97605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6886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転倒表示と警報音を確認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E7AFB-BCC0-4C03-A838-255C31C2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8952D-D860-436B-8130-5C0CB0EE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591050"/>
            <a:ext cx="2695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姿勢を戻す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D374D-23A7-4BB2-BBAB-6F21D1BA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91050"/>
            <a:ext cx="68865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NORMALへの復帰と停止を確認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E9058-BCB4-4F88-B25D-F64D67BE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再現条件の例：カメラから1m以内に座り、上体を前のめりに動かす。</a:t>
            </a:r>
          </a:p>
          <a:p xmlns:a="http://schemas.openxmlformats.org/drawingml/2006/main">
            <a:pPr algn="l">
              <a:defRPr sz="1650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実際に転倒する必要はありません。1mは検出距離の上限ではありません。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611871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DA508-D2F4-4C1D-A612-160DC866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現在の到達点と制約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CF17B-A068-457B-BD83-BEAFAD99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325A6-B856-49A5-951A-0CEF585A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到達点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D977D-EC51-4DAF-AFBE-446255AC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095875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人物検出、転倒判定、LCD表示、</a:t>
            </a:r>
          </a:p>
          <a:p xmlns:a="http://schemas.openxmlformats.org/drawingml/2006/main">
            <a:pPr algn="l">
              <a:defRPr sz="210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警報連携、日時設定を実装。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通常表示・転倒表示の実機写真と、</a:t>
            </a:r>
          </a:p>
          <a:p xmlns:a="http://schemas.openxmlformats.org/drawingml/2006/main">
            <a:pPr algn="l">
              <a:defRPr sz="210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10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審査用の操作手順を用意しています。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5193D-5D18-4D60-8CA7-7FE67207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438275"/>
            <a:ext cx="516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利用・評価上の制約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847BF-B4AE-471F-B2F5-91A9D077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38375"/>
            <a:ext cx="5162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横になった姿勢も転倒候補になり得ます。</a:t>
            </a:r>
          </a:p>
          <a:p xmlns:a="http://schemas.openxmlformats.org/drawingml/2006/main">
            <a:pPr algn="l">
              <a:defRPr sz="195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遠い人物・遮蔽・照明条件で見逃す</a:t>
            </a:r>
          </a:p>
          <a:p xmlns:a="http://schemas.openxmlformats.org/drawingml/2006/main">
            <a:pPr algn="l">
              <a:defRPr sz="1950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可能性があります。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1642569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D7120-9F91-4ABB-BCFA-91A577A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応募作品の特徴と関連資料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ECFBE-987D-4F05-966D-1B1DD68B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339F3-E7A0-4CD2-AFFB-177398C1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カメラ入力から、人物検出・転倒判定・表示・警報までを</a:t>
            </a:r>
          </a:p>
          <a:p xmlns:a="http://schemas.openxmlformats.org/drawingml/2006/main">
            <a:pPr algn="l">
              <a:defRPr sz="2625" b="1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007F80"/>
                </a:solidFill>
                <a:latin typeface="Meiryo"/>
                <a:ea typeface="Meiryo"/>
                <a:cs typeface="Meiryo"/>
              </a:rPr>
              <a:t>μT-Kernel上のアプリケーションとして統合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4B81D-D3CE-4E7E-9679-36BCBFEC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7334A"/>
                </a:solidFill>
                <a:latin typeface="Meiryo"/>
                <a:ea typeface="Meiryo"/>
                <a:cs typeface="Meiryo"/>
              </a:rPr>
              <a:t>関連資料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A98E9-DFBA-4969-8373-3CF0E81E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763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セットアップ手順書　　機材・ビルド・書き込み</a:t>
            </a:r>
          </a:p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操作マニュアル　　　　画面・時刻設定・復帰操作</a:t>
            </a:r>
          </a:p>
          <a:p xmlns:a="http://schemas.openxmlformats.org/drawingml/2006/main">
            <a:pPr algn="l">
              <a:defRPr sz="2025" b="0">
                <a:solidFill>
                  <a:srgbClr val="17334A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17334A"/>
                </a:solidFill>
                <a:latin typeface="Meiryo"/>
                <a:ea typeface="Meiryo"/>
                <a:cs typeface="Meiryo"/>
              </a:rPr>
              <a:t>動作評価手順書　　　　審査時の確認手順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A972C-2086-4B90-B711-ECB72426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A78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536A78"/>
                </a:solidFill>
                <a:latin typeface="Meiryo"/>
                <a:ea typeface="Meiryo"/>
                <a:cs typeface="Meiryo"/>
              </a:rPr>
              <a:t>ソースと関連資料のリポジトリ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AF89D-F067-4366-AC8E-8301817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7F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0"/>
                </a:solidFill>
                <a:latin typeface="Meiryo"/>
                <a:ea typeface="Meiryo"/>
                <a:cs typeface="Meiryo"/>
              </a:rPr>
              <a:t>https://github.com/grace2riku/mimamori-sense</a:t>
            </a:r>
          </a:p>
        </p:txBody>
      </p:sp>
    </p:spTree>
    <p:extLst>
      <p:ext uri="{BB962C8B-B14F-4D97-AF65-F5344CB8AC3E}">
        <p14:creationId xmlns:p14="http://schemas.microsoft.com/office/powerpoint/2010/main" val="1477321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2026-09-27T05:09:25.5180000Z</dcterms:created>
  <dcterms:modified xsi:type="dcterms:W3CDTF">2026-09-27T05:09:25.5180000Z</dcterms:modified>
</coreProperties>
</file>